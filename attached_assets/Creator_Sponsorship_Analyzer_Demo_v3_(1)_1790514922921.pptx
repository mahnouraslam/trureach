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9"/>
  </p:normalViewPr>
  <p:slideViewPr>
    <p:cSldViewPr snapToGrid="0">
      <p:cViewPr varScale="1">
        <p:scale>
          <a:sx n="114" d="100"/>
          <a:sy n="114" d="100"/>
        </p:scale>
        <p:origin x="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central question: views tell us how many people watched, but not what the sponsor received inside 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Influencer pricing already considers reach, engagement, audience, deliverables, and rights. Our product adds evidence about how the sponsorship appeared inside the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analysis does not need to stream in real time. We analyze first, then synchronize the returned events with the video so the experience feels live and remains dependable for 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During the demo, play or scrub the video. The event feed highlights the active sponsorship moment. Clicking an event seeks directly to that timestamp.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numbers come from the brief's sample payload and are illustrative. The key product behavior is honest uncertainty: frame matches can support an estimated visibility window without claiming exact duration.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hackathon stops at one video. This structure creates the foundation for later cross-video creative intelligence, such as comparing a story-led integration with an immediate product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 can confirm Oriane's real response shape later without rebuilding the UI. The server adapter maps transcripts, visual matches, and available metadata into the same normalized model used by the mock.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CBB9A09-12C5-4B8D-92FE-9A80D8F4CB7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6DF3"/>
                </a:solidFill>
                <a:latin typeface="Aptos"/>
                <a:ea typeface="Aptos"/>
                <a:cs typeface="Aptos"/>
              </a:rPr>
              <a:t>HACKATHON DEMO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DACFA2-EFB0-45F6-883E-9FA0FC59E94B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885825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2000"/>
              </a:lnSpc>
              <a:buNone/>
              <a:defRPr sz="435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Creator Sponsorship</a:t>
            </a:r>
          </a:p>
          <a:p>
            <a:pPr algn="l">
              <a:lnSpc>
                <a:spcPct val="92000"/>
              </a:lnSpc>
              <a:buNone/>
              <a:defRPr sz="435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Analyzer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84C0CD-B549-4A61-81C7-AB90918A9160}"/>
              </a:ext>
            </a:extLst>
          </p:cNvPr>
          <p:cNvSpPr>
            <a:spLocks noGrp="1"/>
          </p:cNvSpPr>
          <p:nvPr/>
        </p:nvSpPr>
        <p:spPr>
          <a:xfrm>
            <a:off x="723900" y="3429000"/>
            <a:ext cx="6667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Know what was delivered.</a:t>
            </a:r>
          </a:p>
          <a:p>
            <a:pPr algn="l">
              <a:lnSpc>
                <a:spcPct val="105000"/>
              </a:lnSpc>
              <a:buNone/>
              <a:defRPr sz="2250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Learn what performs.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000B34D-1A88-46A9-929F-F8C6ABD1B0A6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10763250" cy="0"/>
          </a:xfrm>
          <a:prstGeom prst="line">
            <a:avLst/>
          </a:prstGeom>
          <a:noFill/>
          <a:ln w="19050">
            <a:solidFill>
              <a:srgbClr val="D5D8DE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09A7496-EED7-499B-8DEF-6BEF46FB3902}"/>
              </a:ext>
            </a:extLst>
          </p:cNvPr>
          <p:cNvSpPr>
            <a:spLocks noGrp="1"/>
          </p:cNvSpPr>
          <p:nvPr/>
        </p:nvSpPr>
        <p:spPr>
          <a:xfrm>
            <a:off x="723900" y="5572125"/>
            <a:ext cx="2952750" cy="95250"/>
          </a:xfrm>
          <a:prstGeom prst="roundRect">
            <a:avLst>
              <a:gd name="adj" fmla="val 50000"/>
            </a:avLst>
          </a:prstGeom>
          <a:solidFill>
            <a:srgbClr val="356DF3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29EC974-3D48-4490-A3AA-72CCAACF3F60}"/>
              </a:ext>
            </a:extLst>
          </p:cNvPr>
          <p:cNvSpPr>
            <a:spLocks noGrp="1"/>
          </p:cNvSpPr>
          <p:nvPr/>
        </p:nvSpPr>
        <p:spPr>
          <a:xfrm>
            <a:off x="3676650" y="5572125"/>
            <a:ext cx="2476500" cy="95250"/>
          </a:xfrm>
          <a:prstGeom prst="roundRect">
            <a:avLst>
              <a:gd name="adj" fmla="val 50000"/>
            </a:avLst>
          </a:prstGeom>
          <a:solidFill>
            <a:srgbClr val="FF886B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F521069-C493-4598-95B4-51CF5A33ED4B}"/>
              </a:ext>
            </a:extLst>
          </p:cNvPr>
          <p:cNvSpPr>
            <a:spLocks noGrp="1"/>
          </p:cNvSpPr>
          <p:nvPr/>
        </p:nvSpPr>
        <p:spPr>
          <a:xfrm>
            <a:off x="6153150" y="5572125"/>
            <a:ext cx="5334000" cy="95250"/>
          </a:xfrm>
          <a:prstGeom prst="roundRect">
            <a:avLst>
              <a:gd name="adj" fmla="val 50000"/>
            </a:avLst>
          </a:prstGeom>
          <a:solidFill>
            <a:srgbClr val="2BB48A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5BE30E-D5B2-47E7-A2D1-C82E8E55E505}"/>
              </a:ext>
            </a:extLst>
          </p:cNvPr>
          <p:cNvSpPr>
            <a:spLocks noGrp="1"/>
          </p:cNvSpPr>
          <p:nvPr/>
        </p:nvSpPr>
        <p:spPr>
          <a:xfrm>
            <a:off x="723900" y="5953125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978"/>
                </a:solidFill>
                <a:latin typeface="Aptos"/>
                <a:ea typeface="Aptos"/>
                <a:cs typeface="Aptos"/>
              </a:rPr>
              <a:t>ORIANE VIDEO INTELLIGENCE + REPLIT</a:t>
            </a:r>
          </a:p>
        </p:txBody>
      </p:sp>
    </p:spTree>
    <p:extLst>
      <p:ext uri="{BB962C8B-B14F-4D97-AF65-F5344CB8AC3E}">
        <p14:creationId xmlns:p14="http://schemas.microsoft.com/office/powerpoint/2010/main" val="1448952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81F5BBA-1111-4CE3-AB85-71551892A877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6DF3"/>
                </a:solidFill>
                <a:latin typeface="Aptos"/>
                <a:ea typeface="Aptos"/>
                <a:cs typeface="Aptos"/>
              </a:rPr>
              <a:t>THE GAP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844491-A6F6-411B-AAD4-1D8E4D0B0577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Pricing sees performance, not execution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5D043E-55C3-46D4-87E6-F0B016055458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287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Brands negotiate creator fees using audience, deliverables, reach, engagement, clicks, and expected outcomes. Those signals do not quantify how the brand was executed inside the video.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45F47C-E4E1-42DB-ADC6-6B1E4DAC855E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6DF3"/>
                </a:solidFill>
                <a:latin typeface="Aptos"/>
                <a:ea typeface="Aptos"/>
                <a:cs typeface="Aptos"/>
              </a:rPr>
              <a:t>WHAT BRANDS MEASURE TODAY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D865B3-2EC5-4929-AC2B-4139DCACAB12}"/>
              </a:ext>
            </a:extLst>
          </p:cNvPr>
          <p:cNvSpPr>
            <a:spLocks noGrp="1"/>
          </p:cNvSpPr>
          <p:nvPr/>
        </p:nvSpPr>
        <p:spPr>
          <a:xfrm>
            <a:off x="666750" y="3048000"/>
            <a:ext cx="409575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87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Reach and views</a:t>
            </a:r>
          </a:p>
          <a:p>
            <a:pPr algn="l">
              <a:lnSpc>
                <a:spcPct val="118000"/>
              </a:lnSpc>
              <a:buNone/>
              <a:defRPr sz="187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Engagement and clicks</a:t>
            </a:r>
          </a:p>
          <a:p>
            <a:pPr algn="l">
              <a:lnSpc>
                <a:spcPct val="118000"/>
              </a:lnSpc>
              <a:buNone/>
              <a:defRPr sz="187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Conversions and sales</a:t>
            </a:r>
          </a:p>
          <a:p>
            <a:pPr algn="l">
              <a:lnSpc>
                <a:spcPct val="118000"/>
              </a:lnSpc>
              <a:buNone/>
              <a:defRPr sz="187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Creator profile and deliverables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DCF169-A4A7-4E8F-8D73-F41BDED97E05}"/>
              </a:ext>
            </a:extLst>
          </p:cNvPr>
          <p:cNvSpPr>
            <a:spLocks noGrp="1"/>
          </p:cNvSpPr>
          <p:nvPr/>
        </p:nvSpPr>
        <p:spPr>
          <a:xfrm>
            <a:off x="5429250" y="2619375"/>
            <a:ext cx="19050" cy="2619375"/>
          </a:xfrm>
          <a:prstGeom prst="rect">
            <a:avLst/>
          </a:prstGeom>
          <a:solidFill>
            <a:srgbClr val="D5D8DE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EB893C-EC73-4779-8B8D-7A3DBCAD688B}"/>
              </a:ext>
            </a:extLst>
          </p:cNvPr>
          <p:cNvSpPr>
            <a:spLocks noGrp="1"/>
          </p:cNvSpPr>
          <p:nvPr/>
        </p:nvSpPr>
        <p:spPr>
          <a:xfrm>
            <a:off x="6191250" y="2619375"/>
            <a:ext cx="4095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FF88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886B"/>
                </a:solidFill>
                <a:latin typeface="Aptos"/>
                <a:ea typeface="Aptos"/>
                <a:cs typeface="Aptos"/>
              </a:rPr>
              <a:t>THE MISSING 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9071FE-5C76-4186-88D9-BD0CFF00B2D1}"/>
              </a:ext>
            </a:extLst>
          </p:cNvPr>
          <p:cNvSpPr>
            <a:spLocks noGrp="1"/>
          </p:cNvSpPr>
          <p:nvPr/>
        </p:nvSpPr>
        <p:spPr>
          <a:xfrm>
            <a:off x="6191250" y="3048000"/>
            <a:ext cx="47625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8598"/>
          </a:bodyPr>
          <a:lstStyle/>
          <a:p>
            <a:pPr algn="l">
              <a:lnSpc>
                <a:spcPct val="118000"/>
              </a:lnSpc>
              <a:buNone/>
              <a:defRPr sz="180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How long was the logo visible?</a:t>
            </a:r>
          </a:p>
          <a:p>
            <a:pPr algn="l">
              <a:lnSpc>
                <a:spcPct val="118000"/>
              </a:lnSpc>
              <a:buNone/>
              <a:defRPr sz="180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How long did the creator discuss the product?</a:t>
            </a:r>
          </a:p>
          <a:p>
            <a:pPr algn="l">
              <a:lnSpc>
                <a:spcPct val="118000"/>
              </a:lnSpc>
              <a:buNone/>
              <a:defRPr sz="180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Was the message generic or brand specific?</a:t>
            </a:r>
          </a:p>
          <a:p>
            <a:pPr algn="l">
              <a:lnSpc>
                <a:spcPct val="118000"/>
              </a:lnSpc>
              <a:buNone/>
              <a:defRPr sz="180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How was the product integrated creatively?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F745AE-D473-4EC6-B79F-18B0ADED9B85}"/>
              </a:ext>
            </a:extLst>
          </p:cNvPr>
          <p:cNvSpPr>
            <a:spLocks noGrp="1"/>
          </p:cNvSpPr>
          <p:nvPr/>
        </p:nvSpPr>
        <p:spPr>
          <a:xfrm>
            <a:off x="666750" y="5572125"/>
            <a:ext cx="10858500" cy="57150"/>
          </a:xfrm>
          <a:prstGeom prst="roundRect">
            <a:avLst>
              <a:gd name="adj" fmla="val 50000"/>
            </a:avLst>
          </a:prstGeom>
          <a:solidFill>
            <a:srgbClr val="FF886B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EDCF7C-4316-419D-9D28-DE6D53565C5C}"/>
              </a:ext>
            </a:extLst>
          </p:cNvPr>
          <p:cNvSpPr>
            <a:spLocks noGrp="1"/>
          </p:cNvSpPr>
          <p:nvPr/>
        </p:nvSpPr>
        <p:spPr>
          <a:xfrm>
            <a:off x="666750" y="5810250"/>
            <a:ext cx="10096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9447"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Our model adds execution metrics from the video itself, reducing the assumptions behind pricing and campaign review.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4C2BAD-34A4-42B3-B4D7-A95CFFFF4B91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1">
                <a:solidFill>
                  <a:srgbClr val="8C96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C96A5"/>
                </a:solidFill>
                <a:latin typeface="Aptos"/>
                <a:ea typeface="Aptos"/>
                <a:cs typeface="Aptos"/>
              </a:rPr>
              <a:t>CREATOR SPONSORSHIP ANALYZER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568856-A6E7-4755-9B50-56A23A25E3AD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8C96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C96A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5806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4EBC2CF-A251-4C01-B2A9-F233FD3490A6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6DF3"/>
                </a:solidFill>
                <a:latin typeface="Aptos"/>
                <a:ea typeface="Aptos"/>
                <a:cs typeface="Aptos"/>
              </a:rPr>
              <a:t>PRODUCT VALUE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45901C-C8F7-4856-8FB2-A8FACD14FFF4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Two uses for video-level intelligence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F03ACB-4908-4CF0-801D-4321952CC9E3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Oriane watches the sponsored video like a reviewer. Our analysis turns that evidence into decisions for the current campaign and learning for the next one.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3C5F765-4DAB-4D7E-853F-5218E3832CAA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5048250" cy="31432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3518A7-A6E8-447C-9D7E-F2DFA8EEBAC9}"/>
              </a:ext>
            </a:extLst>
          </p:cNvPr>
          <p:cNvSpPr>
            <a:spLocks noGrp="1"/>
          </p:cNvSpPr>
          <p:nvPr/>
        </p:nvSpPr>
        <p:spPr>
          <a:xfrm>
            <a:off x="1000125" y="271462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FF88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886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A5A9E5-13AC-43C3-8D93-D40EA7B8E2C9}"/>
              </a:ext>
            </a:extLst>
          </p:cNvPr>
          <p:cNvSpPr>
            <a:spLocks noGrp="1"/>
          </p:cNvSpPr>
          <p:nvPr/>
        </p:nvSpPr>
        <p:spPr>
          <a:xfrm>
            <a:off x="1000125" y="3143250"/>
            <a:ext cx="40957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1954"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Execution-informed pricing and review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A0DED5-0374-4007-B36E-6F204F457A1C}"/>
              </a:ext>
            </a:extLst>
          </p:cNvPr>
          <p:cNvSpPr>
            <a:spLocks noGrp="1"/>
          </p:cNvSpPr>
          <p:nvPr/>
        </p:nvSpPr>
        <p:spPr>
          <a:xfrm>
            <a:off x="1000125" y="4000500"/>
            <a:ext cx="4000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Add reliable measures of logo visibility, product discussion, demonstrations, CTA placement, and message specificity to the existing pricing and approval process.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15094FD-3897-4803-9DD7-5875821188A6}"/>
              </a:ext>
            </a:extLst>
          </p:cNvPr>
          <p:cNvSpPr>
            <a:spLocks noGrp="1"/>
          </p:cNvSpPr>
          <p:nvPr/>
        </p:nvSpPr>
        <p:spPr>
          <a:xfrm>
            <a:off x="6096000" y="2381250"/>
            <a:ext cx="5429250" cy="31432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F23C2-FF4E-4F55-953C-1B47B1699CE7}"/>
              </a:ext>
            </a:extLst>
          </p:cNvPr>
          <p:cNvSpPr>
            <a:spLocks noGrp="1"/>
          </p:cNvSpPr>
          <p:nvPr/>
        </p:nvSpPr>
        <p:spPr>
          <a:xfrm>
            <a:off x="6429375" y="271462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125" b="1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56DF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E36B71-9464-4DAF-8766-A99FC360E37F}"/>
              </a:ext>
            </a:extLst>
          </p:cNvPr>
          <p:cNvSpPr>
            <a:spLocks noGrp="1"/>
          </p:cNvSpPr>
          <p:nvPr/>
        </p:nvSpPr>
        <p:spPr>
          <a:xfrm>
            <a:off x="6429375" y="3143250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500"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2175" b="1" dirty="0">
                <a:solidFill>
                  <a:srgbClr val="07152C"/>
                </a:solidFill>
                <a:latin typeface="Aptos"/>
                <a:ea typeface="Aptos"/>
                <a:cs typeface="Aptos"/>
              </a:rPr>
              <a:t>Creative intelligence</a:t>
            </a:r>
            <a:r>
              <a:rPr lang="en-US" sz="2175" b="1" dirty="0">
                <a:solidFill>
                  <a:srgbClr val="07152C"/>
                </a:solidFill>
                <a:latin typeface="Aptos"/>
                <a:ea typeface="Aptos"/>
                <a:cs typeface="Aptos"/>
              </a:rPr>
              <a:t> (</a:t>
            </a:r>
            <a:r>
              <a:rPr lang="en-US" sz="217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In Progress)</a:t>
            </a:r>
            <a:endParaRPr sz="2175" b="1">
              <a:solidFill>
                <a:srgbClr val="0715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AF680-878E-4D3C-9D5F-E28D7030E92C}"/>
              </a:ext>
            </a:extLst>
          </p:cNvPr>
          <p:cNvSpPr>
            <a:spLocks noGrp="1"/>
          </p:cNvSpPr>
          <p:nvPr/>
        </p:nvSpPr>
        <p:spPr>
          <a:xfrm>
            <a:off x="6429375" y="3905250"/>
            <a:ext cx="4238625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Compare before-and-after, tutorial, testimonial, and informative formats against watch time, saves, clicks, conversions, and sales to learn what works by category.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646E87-0364-488F-B8D2-96FE5E7D0E04}"/>
              </a:ext>
            </a:extLst>
          </p:cNvPr>
          <p:cNvSpPr>
            <a:spLocks noGrp="1"/>
          </p:cNvSpPr>
          <p:nvPr/>
        </p:nvSpPr>
        <p:spPr>
          <a:xfrm>
            <a:off x="666750" y="5905500"/>
            <a:ext cx="9592372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product informs human decisions. It does not automatically set or reduce creator fees</a:t>
            </a:r>
            <a:r>
              <a:rPr lang="en-US" sz="160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, but adds a dimension to the current pricing model.</a:t>
            </a:r>
            <a:endParaRPr sz="160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9CA47F-18A6-4FE5-B11D-8C453514DC3B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1">
                <a:solidFill>
                  <a:srgbClr val="8C96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C96A5"/>
                </a:solidFill>
                <a:latin typeface="Aptos"/>
                <a:ea typeface="Aptos"/>
                <a:cs typeface="Aptos"/>
              </a:rPr>
              <a:t>CREATOR SPONSORSHIP ANALYZER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CF7C4F-DEBB-409C-A55D-3C5F54138203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8C96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C96A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66518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BC656AD-4477-4D38-9DEA-0C1D2A72714F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6DF3"/>
                </a:solidFill>
                <a:latin typeface="Aptos"/>
                <a:ea typeface="Aptos"/>
                <a:cs typeface="Aptos"/>
              </a:rPr>
              <a:t>DEMO EXPERIENCE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8CB3ED-B1E0-4543-A731-7E547F0CE0E6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Playback and evidence stay synchronized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6BE399-BD5A-4B18-AB37-FFDCCED6F64A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Illustrative example campaign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F90E6F6-9EA4-4489-ABBA-E6ED257E48BA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6191250" cy="3714750"/>
          </a:xfrm>
          <a:prstGeom prst="roundRect">
            <a:avLst>
              <a:gd name="adj" fmla="val 4103"/>
            </a:avLst>
          </a:prstGeom>
          <a:solidFill>
            <a:srgbClr val="E9F0FF"/>
          </a:solidFill>
          <a:ln w="9525">
            <a:solidFill>
              <a:srgbClr val="C9D5E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05E2C-5301-4344-926D-0EC33DF11C32}"/>
              </a:ext>
            </a:extLst>
          </p:cNvPr>
          <p:cNvSpPr>
            <a:spLocks noGrp="1"/>
          </p:cNvSpPr>
          <p:nvPr/>
        </p:nvSpPr>
        <p:spPr>
          <a:xfrm>
            <a:off x="952500" y="217170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0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00:17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411B1F1-E9CF-42E8-890C-8021A3265CCE}"/>
              </a:ext>
            </a:extLst>
          </p:cNvPr>
          <p:cNvSpPr>
            <a:spLocks noGrp="1"/>
          </p:cNvSpPr>
          <p:nvPr/>
        </p:nvSpPr>
        <p:spPr>
          <a:xfrm>
            <a:off x="3000375" y="3028950"/>
            <a:ext cx="838200" cy="8382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6A215504-A20E-412C-A86D-B73FC7252897}"/>
              </a:ext>
            </a:extLst>
          </p:cNvPr>
          <p:cNvSpPr>
            <a:spLocks noGrp="1"/>
          </p:cNvSpPr>
          <p:nvPr/>
        </p:nvSpPr>
        <p:spPr>
          <a:xfrm rot="5400000">
            <a:off x="3333750" y="3267075"/>
            <a:ext cx="323850" cy="361950"/>
          </a:xfrm>
          <a:prstGeom prst="triangle">
            <a:avLst/>
          </a:prstGeom>
          <a:solidFill>
            <a:srgbClr val="356DF3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86D606-C76C-4582-88A5-4B2D3206FE7A}"/>
              </a:ext>
            </a:extLst>
          </p:cNvPr>
          <p:cNvSpPr>
            <a:spLocks noGrp="1"/>
          </p:cNvSpPr>
          <p:nvPr/>
        </p:nvSpPr>
        <p:spPr>
          <a:xfrm>
            <a:off x="952500" y="4857750"/>
            <a:ext cx="3048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Sponsored skincare routine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2E7AF44-DF3B-494E-B0FB-7CE40F7898C8}"/>
              </a:ext>
            </a:extLst>
          </p:cNvPr>
          <p:cNvSpPr>
            <a:spLocks noGrp="1"/>
          </p:cNvSpPr>
          <p:nvPr/>
        </p:nvSpPr>
        <p:spPr>
          <a:xfrm>
            <a:off x="952500" y="5305425"/>
            <a:ext cx="5524500" cy="57150"/>
          </a:xfrm>
          <a:prstGeom prst="roundRect">
            <a:avLst>
              <a:gd name="adj" fmla="val 50000"/>
            </a:avLst>
          </a:prstGeom>
          <a:solidFill>
            <a:srgbClr val="CBD4E2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CAC30BA-DE79-4B7B-AA24-BD5583D952D7}"/>
              </a:ext>
            </a:extLst>
          </p:cNvPr>
          <p:cNvSpPr>
            <a:spLocks noGrp="1"/>
          </p:cNvSpPr>
          <p:nvPr/>
        </p:nvSpPr>
        <p:spPr>
          <a:xfrm>
            <a:off x="952500" y="5305425"/>
            <a:ext cx="1743075" cy="57150"/>
          </a:xfrm>
          <a:prstGeom prst="roundRect">
            <a:avLst>
              <a:gd name="adj" fmla="val 50000"/>
            </a:avLst>
          </a:prstGeom>
          <a:solidFill>
            <a:srgbClr val="FF886B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5AFAE30-3F37-47EE-B35F-D6B3B7E46912}"/>
              </a:ext>
            </a:extLst>
          </p:cNvPr>
          <p:cNvSpPr>
            <a:spLocks noGrp="1"/>
          </p:cNvSpPr>
          <p:nvPr/>
        </p:nvSpPr>
        <p:spPr>
          <a:xfrm>
            <a:off x="7191375" y="1905000"/>
            <a:ext cx="4333875" cy="371475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CE2E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8AFCA9-B067-4B5F-837B-6AAA705EF304}"/>
              </a:ext>
            </a:extLst>
          </p:cNvPr>
          <p:cNvSpPr>
            <a:spLocks noGrp="1"/>
          </p:cNvSpPr>
          <p:nvPr/>
        </p:nvSpPr>
        <p:spPr>
          <a:xfrm>
            <a:off x="7524750" y="2171700"/>
            <a:ext cx="2571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6DF3"/>
                </a:solidFill>
                <a:latin typeface="Aptos"/>
                <a:ea typeface="Aptos"/>
                <a:cs typeface="Aptos"/>
              </a:rPr>
              <a:t>SPONSORSHIP EVENTS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EF9AC88-9406-473E-BA28-C19511CEF5C5}"/>
              </a:ext>
            </a:extLst>
          </p:cNvPr>
          <p:cNvSpPr>
            <a:spLocks noGrp="1"/>
          </p:cNvSpPr>
          <p:nvPr/>
        </p:nvSpPr>
        <p:spPr>
          <a:xfrm>
            <a:off x="7543800" y="2705100"/>
            <a:ext cx="95250" cy="95250"/>
          </a:xfrm>
          <a:prstGeom prst="ellipse">
            <a:avLst/>
          </a:prstGeom>
          <a:solidFill>
            <a:srgbClr val="356DF3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34B6D1-81EC-4EFA-A468-0F8290E1F78E}"/>
              </a:ext>
            </a:extLst>
          </p:cNvPr>
          <p:cNvSpPr>
            <a:spLocks noGrp="1"/>
          </p:cNvSpPr>
          <p:nvPr/>
        </p:nvSpPr>
        <p:spPr>
          <a:xfrm>
            <a:off x="7810500" y="2667000"/>
            <a:ext cx="590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978"/>
                </a:solidFill>
                <a:latin typeface="Aptos"/>
                <a:ea typeface="Aptos"/>
                <a:cs typeface="Aptos"/>
              </a:rPr>
              <a:t>00:03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2CF5E0-5495-4DD3-83DC-9D1A392C2657}"/>
              </a:ext>
            </a:extLst>
          </p:cNvPr>
          <p:cNvSpPr>
            <a:spLocks noGrp="1"/>
          </p:cNvSpPr>
          <p:nvPr/>
        </p:nvSpPr>
        <p:spPr>
          <a:xfrm>
            <a:off x="8496300" y="2657475"/>
            <a:ext cx="2619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56DF3"/>
                </a:solidFill>
                <a:latin typeface="Aptos"/>
                <a:ea typeface="Aptos"/>
                <a:cs typeface="Aptos"/>
              </a:rPr>
              <a:t>Product detected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145BF0A-777D-4C78-8BF2-0F673C79E50C}"/>
              </a:ext>
            </a:extLst>
          </p:cNvPr>
          <p:cNvSpPr>
            <a:spLocks noGrp="1"/>
          </p:cNvSpPr>
          <p:nvPr/>
        </p:nvSpPr>
        <p:spPr>
          <a:xfrm>
            <a:off x="7543800" y="3248025"/>
            <a:ext cx="95250" cy="95250"/>
          </a:xfrm>
          <a:prstGeom prst="ellipse">
            <a:avLst/>
          </a:prstGeom>
          <a:solidFill>
            <a:srgbClr val="356DF3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1CE014-A85B-4709-B72F-CAA3C529BBED}"/>
              </a:ext>
            </a:extLst>
          </p:cNvPr>
          <p:cNvSpPr>
            <a:spLocks noGrp="1"/>
          </p:cNvSpPr>
          <p:nvPr/>
        </p:nvSpPr>
        <p:spPr>
          <a:xfrm>
            <a:off x="7810500" y="3209925"/>
            <a:ext cx="590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978"/>
                </a:solidFill>
                <a:latin typeface="Aptos"/>
                <a:ea typeface="Aptos"/>
                <a:cs typeface="Aptos"/>
              </a:rPr>
              <a:t>00:07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284C56-1967-4655-AF12-C06D0ED45708}"/>
              </a:ext>
            </a:extLst>
          </p:cNvPr>
          <p:cNvSpPr>
            <a:spLocks noGrp="1"/>
          </p:cNvSpPr>
          <p:nvPr/>
        </p:nvSpPr>
        <p:spPr>
          <a:xfrm>
            <a:off x="8496300" y="3200400"/>
            <a:ext cx="2619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56DF3"/>
                </a:solidFill>
                <a:latin typeface="Aptos"/>
                <a:ea typeface="Aptos"/>
                <a:cs typeface="Aptos"/>
              </a:rPr>
              <a:t>Brand logo visible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76EB3BA-E0A6-43EB-9E2A-CB8235F81B1F}"/>
              </a:ext>
            </a:extLst>
          </p:cNvPr>
          <p:cNvSpPr>
            <a:spLocks noGrp="1"/>
          </p:cNvSpPr>
          <p:nvPr/>
        </p:nvSpPr>
        <p:spPr>
          <a:xfrm>
            <a:off x="7543800" y="3790950"/>
            <a:ext cx="95250" cy="95250"/>
          </a:xfrm>
          <a:prstGeom prst="ellipse">
            <a:avLst/>
          </a:prstGeom>
          <a:solidFill>
            <a:srgbClr val="07152C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9712CA-C1B9-420A-A148-D1167D2FF430}"/>
              </a:ext>
            </a:extLst>
          </p:cNvPr>
          <p:cNvSpPr>
            <a:spLocks noGrp="1"/>
          </p:cNvSpPr>
          <p:nvPr/>
        </p:nvSpPr>
        <p:spPr>
          <a:xfrm>
            <a:off x="7810500" y="3752850"/>
            <a:ext cx="590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978"/>
                </a:solidFill>
                <a:latin typeface="Aptos"/>
                <a:ea typeface="Aptos"/>
                <a:cs typeface="Aptos"/>
              </a:rPr>
              <a:t>00:11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A4E743-EB64-4338-BF4E-EE56021473D9}"/>
              </a:ext>
            </a:extLst>
          </p:cNvPr>
          <p:cNvSpPr>
            <a:spLocks noGrp="1"/>
          </p:cNvSpPr>
          <p:nvPr/>
        </p:nvSpPr>
        <p:spPr>
          <a:xfrm>
            <a:off x="8496300" y="3743325"/>
            <a:ext cx="2619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152C"/>
                </a:solidFill>
                <a:latin typeface="Aptos"/>
                <a:ea typeface="Aptos"/>
                <a:cs typeface="Aptos"/>
              </a:rPr>
              <a:t>“I've been using CeraVe...”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48A8363-7F33-42E3-AF7D-E14CB0E7AEDD}"/>
              </a:ext>
            </a:extLst>
          </p:cNvPr>
          <p:cNvSpPr>
            <a:spLocks noGrp="1"/>
          </p:cNvSpPr>
          <p:nvPr/>
        </p:nvSpPr>
        <p:spPr>
          <a:xfrm>
            <a:off x="7410450" y="4191000"/>
            <a:ext cx="3857625" cy="457200"/>
          </a:xfrm>
          <a:prstGeom prst="roundRect">
            <a:avLst>
              <a:gd name="adj" fmla="val 25000"/>
            </a:avLst>
          </a:prstGeom>
          <a:solidFill>
            <a:srgbClr val="FFF0E9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3A5F82A-0D97-4B3F-AD2A-32D0C14A72B3}"/>
              </a:ext>
            </a:extLst>
          </p:cNvPr>
          <p:cNvSpPr>
            <a:spLocks noGrp="1"/>
          </p:cNvSpPr>
          <p:nvPr/>
        </p:nvSpPr>
        <p:spPr>
          <a:xfrm>
            <a:off x="7543800" y="4333875"/>
            <a:ext cx="95250" cy="95250"/>
          </a:xfrm>
          <a:prstGeom prst="ellipse">
            <a:avLst/>
          </a:prstGeom>
          <a:solidFill>
            <a:srgbClr val="FF886B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C06465-9D1B-4F81-A6BA-AB0E3214FE1F}"/>
              </a:ext>
            </a:extLst>
          </p:cNvPr>
          <p:cNvSpPr>
            <a:spLocks noGrp="1"/>
          </p:cNvSpPr>
          <p:nvPr/>
        </p:nvSpPr>
        <p:spPr>
          <a:xfrm>
            <a:off x="7810500" y="4295775"/>
            <a:ext cx="590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FF88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86B"/>
                </a:solidFill>
                <a:latin typeface="Aptos"/>
                <a:ea typeface="Aptos"/>
                <a:cs typeface="Aptos"/>
              </a:rPr>
              <a:t>00:17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81B6FD-EEBB-47CE-A597-6F361B80CC63}"/>
              </a:ext>
            </a:extLst>
          </p:cNvPr>
          <p:cNvSpPr>
            <a:spLocks noGrp="1"/>
          </p:cNvSpPr>
          <p:nvPr/>
        </p:nvSpPr>
        <p:spPr>
          <a:xfrm>
            <a:off x="8496300" y="4286250"/>
            <a:ext cx="2619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1">
                <a:solidFill>
                  <a:srgbClr val="FF88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886B"/>
                </a:solidFill>
                <a:latin typeface="Aptos"/>
                <a:ea typeface="Aptos"/>
                <a:cs typeface="Aptos"/>
              </a:rPr>
              <a:t>Product demonstration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5632D3-F299-47ED-9249-5D8EE010D1D8}"/>
              </a:ext>
            </a:extLst>
          </p:cNvPr>
          <p:cNvSpPr>
            <a:spLocks noGrp="1"/>
          </p:cNvSpPr>
          <p:nvPr/>
        </p:nvSpPr>
        <p:spPr>
          <a:xfrm>
            <a:off x="7543800" y="4876800"/>
            <a:ext cx="95250" cy="95250"/>
          </a:xfrm>
          <a:prstGeom prst="ellipse">
            <a:avLst/>
          </a:prstGeom>
          <a:solidFill>
            <a:srgbClr val="356DF3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AC918F-A844-4391-92EE-4A9AA5E45DF5}"/>
              </a:ext>
            </a:extLst>
          </p:cNvPr>
          <p:cNvSpPr>
            <a:spLocks noGrp="1"/>
          </p:cNvSpPr>
          <p:nvPr/>
        </p:nvSpPr>
        <p:spPr>
          <a:xfrm>
            <a:off x="7810500" y="4838700"/>
            <a:ext cx="590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978"/>
                </a:solidFill>
                <a:latin typeface="Aptos"/>
                <a:ea typeface="Aptos"/>
                <a:cs typeface="Aptos"/>
              </a:rPr>
              <a:t>00:43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16AC22-93A4-44E2-B65A-491255867D2D}"/>
              </a:ext>
            </a:extLst>
          </p:cNvPr>
          <p:cNvSpPr>
            <a:spLocks noGrp="1"/>
          </p:cNvSpPr>
          <p:nvPr/>
        </p:nvSpPr>
        <p:spPr>
          <a:xfrm>
            <a:off x="8496300" y="4829175"/>
            <a:ext cx="26193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56DF3"/>
                </a:solidFill>
                <a:latin typeface="Aptos"/>
                <a:ea typeface="Aptos"/>
                <a:cs typeface="Aptos"/>
              </a:rPr>
              <a:t>Call to action detected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92B1026-2310-49C3-9101-A5AD72EB8831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1">
                <a:solidFill>
                  <a:srgbClr val="8C96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C96A5"/>
                </a:solidFill>
                <a:latin typeface="Aptos"/>
                <a:ea typeface="Aptos"/>
                <a:cs typeface="Aptos"/>
              </a:rPr>
              <a:t>CREATOR SPONSORSHIP ANALYZER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FD7E936-FBDC-4677-BB05-971F3AC8297E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8C96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C96A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9259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8A77DB2-0658-432B-B6C8-9E1BD12953AF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6DF3"/>
                </a:solidFill>
                <a:latin typeface="Aptos"/>
                <a:ea typeface="Aptos"/>
                <a:cs typeface="Aptos"/>
              </a:rPr>
              <a:t>ILLUSTRATIVE ORIANE-DERIVED SIGNALS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D8BE0D-EFAA-4ED3-819B-14907AACB4C1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New metrics from the video itself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FEB50E-E3AA-42FA-8D19-AC3AB316C7C0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533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Example sunscreen sponsorship · 54-second video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25BCEE-53CB-4BB0-B001-12C661CE1416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00:07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06FAC9-EB2D-4509-8D26-55C4A3CC0F8C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978"/>
                </a:solidFill>
                <a:latin typeface="Aptos"/>
                <a:ea typeface="Aptos"/>
                <a:cs typeface="Aptos"/>
              </a:rPr>
              <a:t>FIRST LOGO APPEARANCE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93A0C0-1495-4202-B3CF-AD6B24BA5139}"/>
              </a:ext>
            </a:extLst>
          </p:cNvPr>
          <p:cNvSpPr>
            <a:spLocks noGrp="1"/>
          </p:cNvSpPr>
          <p:nvPr/>
        </p:nvSpPr>
        <p:spPr>
          <a:xfrm>
            <a:off x="2619375" y="2343150"/>
            <a:ext cx="9525" cy="914400"/>
          </a:xfrm>
          <a:prstGeom prst="rect">
            <a:avLst/>
          </a:prstGeom>
          <a:solidFill>
            <a:srgbClr val="D5D8DE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526F9-C58A-4414-9944-BA060FC09F57}"/>
              </a:ext>
            </a:extLst>
          </p:cNvPr>
          <p:cNvSpPr>
            <a:spLocks noGrp="1"/>
          </p:cNvSpPr>
          <p:nvPr/>
        </p:nvSpPr>
        <p:spPr>
          <a:xfrm>
            <a:off x="2857500" y="23336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12s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BF91BB-8BA1-49EB-8BA7-8B36E3F36901}"/>
              </a:ext>
            </a:extLst>
          </p:cNvPr>
          <p:cNvSpPr>
            <a:spLocks noGrp="1"/>
          </p:cNvSpPr>
          <p:nvPr/>
        </p:nvSpPr>
        <p:spPr>
          <a:xfrm>
            <a:off x="2857500" y="30289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978"/>
                </a:solidFill>
                <a:latin typeface="Aptos"/>
                <a:ea typeface="Aptos"/>
                <a:cs typeface="Aptos"/>
              </a:rPr>
              <a:t>ESTIMATED LOGO VISIBILITY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EBEDA6-751B-4981-9629-99706A623B43}"/>
              </a:ext>
            </a:extLst>
          </p:cNvPr>
          <p:cNvSpPr>
            <a:spLocks noGrp="1"/>
          </p:cNvSpPr>
          <p:nvPr/>
        </p:nvSpPr>
        <p:spPr>
          <a:xfrm>
            <a:off x="4810125" y="2343150"/>
            <a:ext cx="9525" cy="914400"/>
          </a:xfrm>
          <a:prstGeom prst="rect">
            <a:avLst/>
          </a:prstGeom>
          <a:solidFill>
            <a:srgbClr val="D5D8DE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06274B-7B37-4A26-933E-AFC813A94624}"/>
              </a:ext>
            </a:extLst>
          </p:cNvPr>
          <p:cNvSpPr>
            <a:spLocks noGrp="1"/>
          </p:cNvSpPr>
          <p:nvPr/>
        </p:nvSpPr>
        <p:spPr>
          <a:xfrm>
            <a:off x="5048250" y="23336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16s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DBA875-6FCD-44D6-A730-50525622CEBE}"/>
              </a:ext>
            </a:extLst>
          </p:cNvPr>
          <p:cNvSpPr>
            <a:spLocks noGrp="1"/>
          </p:cNvSpPr>
          <p:nvPr/>
        </p:nvSpPr>
        <p:spPr>
          <a:xfrm>
            <a:off x="5048250" y="30289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978"/>
                </a:solidFill>
                <a:latin typeface="Aptos"/>
                <a:ea typeface="Aptos"/>
                <a:cs typeface="Aptos"/>
              </a:rPr>
              <a:t>EXPLICIT PRODUCT DISCUSSION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528D4B-4398-4BDF-90CE-8C37F831AB0F}"/>
              </a:ext>
            </a:extLst>
          </p:cNvPr>
          <p:cNvSpPr>
            <a:spLocks noGrp="1"/>
          </p:cNvSpPr>
          <p:nvPr/>
        </p:nvSpPr>
        <p:spPr>
          <a:xfrm>
            <a:off x="7000875" y="2343150"/>
            <a:ext cx="9525" cy="914400"/>
          </a:xfrm>
          <a:prstGeom prst="rect">
            <a:avLst/>
          </a:prstGeom>
          <a:solidFill>
            <a:srgbClr val="D5D8DE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02E785-AE33-4918-BE8B-DC7A969AFFD3}"/>
              </a:ext>
            </a:extLst>
          </p:cNvPr>
          <p:cNvSpPr>
            <a:spLocks noGrp="1"/>
          </p:cNvSpPr>
          <p:nvPr/>
        </p:nvSpPr>
        <p:spPr>
          <a:xfrm>
            <a:off x="7239000" y="23336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00:43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3BB86B-74E4-4E5F-BFDC-762158545C6F}"/>
              </a:ext>
            </a:extLst>
          </p:cNvPr>
          <p:cNvSpPr>
            <a:spLocks noGrp="1"/>
          </p:cNvSpPr>
          <p:nvPr/>
        </p:nvSpPr>
        <p:spPr>
          <a:xfrm>
            <a:off x="7239000" y="30289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978"/>
                </a:solidFill>
                <a:latin typeface="Aptos"/>
                <a:ea typeface="Aptos"/>
                <a:cs typeface="Aptos"/>
              </a:rPr>
              <a:t>CTA TIMING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C0D132-1F25-4EB2-AF56-99AA138CACFB}"/>
              </a:ext>
            </a:extLst>
          </p:cNvPr>
          <p:cNvSpPr>
            <a:spLocks noGrp="1"/>
          </p:cNvSpPr>
          <p:nvPr/>
        </p:nvSpPr>
        <p:spPr>
          <a:xfrm>
            <a:off x="9191625" y="2343150"/>
            <a:ext cx="9525" cy="914400"/>
          </a:xfrm>
          <a:prstGeom prst="rect">
            <a:avLst/>
          </a:prstGeom>
          <a:solidFill>
            <a:srgbClr val="D5D8DE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8CA9CA-C476-4735-8FF3-189A6A386379}"/>
              </a:ext>
            </a:extLst>
          </p:cNvPr>
          <p:cNvSpPr>
            <a:spLocks noGrp="1"/>
          </p:cNvSpPr>
          <p:nvPr/>
        </p:nvSpPr>
        <p:spPr>
          <a:xfrm>
            <a:off x="9429750" y="2333625"/>
            <a:ext cx="1905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FF886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F886B"/>
                </a:solidFill>
                <a:latin typeface="Aptos"/>
                <a:ea typeface="Aptos"/>
                <a:cs typeface="Aptos"/>
              </a:rPr>
              <a:t>Specific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99C664-4C53-410F-956C-5C11E14A90B1}"/>
              </a:ext>
            </a:extLst>
          </p:cNvPr>
          <p:cNvSpPr>
            <a:spLocks noGrp="1"/>
          </p:cNvSpPr>
          <p:nvPr/>
        </p:nvSpPr>
        <p:spPr>
          <a:xfrm>
            <a:off x="9429750" y="30289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00" b="1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978"/>
                </a:solidFill>
                <a:latin typeface="Aptos"/>
                <a:ea typeface="Aptos"/>
                <a:cs typeface="Aptos"/>
              </a:rPr>
              <a:t>BENEFIT FRAMING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F96B0DB-FBA7-4DD9-BDD9-405AFDFB0ACC}"/>
              </a:ext>
            </a:extLst>
          </p:cNvPr>
          <p:cNvSpPr>
            <a:spLocks noGrp="1"/>
          </p:cNvSpPr>
          <p:nvPr/>
        </p:nvSpPr>
        <p:spPr>
          <a:xfrm>
            <a:off x="666750" y="3876675"/>
            <a:ext cx="10858500" cy="0"/>
          </a:xfrm>
          <a:prstGeom prst="line">
            <a:avLst/>
          </a:prstGeom>
          <a:noFill/>
          <a:ln w="19050">
            <a:solidFill>
              <a:srgbClr val="D9DCE2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CB5043-E575-47EC-9168-10F158A53037}"/>
              </a:ext>
            </a:extLst>
          </p:cNvPr>
          <p:cNvSpPr>
            <a:spLocks noGrp="1"/>
          </p:cNvSpPr>
          <p:nvPr/>
        </p:nvSpPr>
        <p:spPr>
          <a:xfrm>
            <a:off x="666750" y="421005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975" b="1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6DF3"/>
                </a:solidFill>
                <a:latin typeface="Aptos"/>
                <a:ea typeface="Aptos"/>
                <a:cs typeface="Aptos"/>
              </a:rPr>
              <a:t>MESSAGE SPECIFICITY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3C645E1-7620-4BC9-9BAE-A8FA728F7665}"/>
              </a:ext>
            </a:extLst>
          </p:cNvPr>
          <p:cNvSpPr>
            <a:spLocks noGrp="1"/>
          </p:cNvSpPr>
          <p:nvPr/>
        </p:nvSpPr>
        <p:spPr>
          <a:xfrm>
            <a:off x="666750" y="4667250"/>
            <a:ext cx="2381250" cy="323850"/>
          </a:xfrm>
          <a:prstGeom prst="roundRect">
            <a:avLst>
              <a:gd name="adj" fmla="val 50000"/>
            </a:avLst>
          </a:prstGeom>
          <a:solidFill>
            <a:srgbClr val="E7ECF5"/>
          </a:solidFill>
          <a:ln w="0">
            <a:noFill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978"/>
                </a:solidFill>
                <a:latin typeface="Aptos"/>
                <a:ea typeface="Aptos"/>
                <a:cs typeface="Aptos"/>
              </a:rPr>
              <a:t>GENERAL SUNSCREEN BENEFIT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2FAC167-534F-44D7-BD99-D8CE7EC6006D}"/>
              </a:ext>
            </a:extLst>
          </p:cNvPr>
          <p:cNvSpPr>
            <a:spLocks noGrp="1"/>
          </p:cNvSpPr>
          <p:nvPr/>
        </p:nvSpPr>
        <p:spPr>
          <a:xfrm>
            <a:off x="3238500" y="4667250"/>
            <a:ext cx="2571750" cy="323850"/>
          </a:xfrm>
          <a:prstGeom prst="roundRect">
            <a:avLst>
              <a:gd name="adj" fmla="val 50000"/>
            </a:avLst>
          </a:prstGeom>
          <a:solidFill>
            <a:srgbClr val="E4F5EF"/>
          </a:solidFill>
          <a:ln w="0">
            <a:noFill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2BB4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B48A"/>
                </a:solidFill>
                <a:latin typeface="Aptos"/>
                <a:ea typeface="Aptos"/>
                <a:cs typeface="Aptos"/>
              </a:rPr>
              <a:t>BRAND-SPECIFIC BENEFIT ✓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3E51B99-FE52-48B3-AEE7-707B3CC2DB0C}"/>
              </a:ext>
            </a:extLst>
          </p:cNvPr>
          <p:cNvSpPr>
            <a:spLocks noGrp="1"/>
          </p:cNvSpPr>
          <p:nvPr/>
        </p:nvSpPr>
        <p:spPr>
          <a:xfrm>
            <a:off x="6000750" y="466725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E4F5EF"/>
          </a:solidFill>
          <a:ln w="0">
            <a:noFill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2BB4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B48A"/>
                </a:solidFill>
                <a:latin typeface="Aptos"/>
                <a:ea typeface="Aptos"/>
                <a:cs typeface="Aptos"/>
              </a:rPr>
              <a:t>PRODUCT DEMO ✓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54411AB-8628-400E-AC84-3E7A1CA1E0F3}"/>
              </a:ext>
            </a:extLst>
          </p:cNvPr>
          <p:cNvSpPr>
            <a:spLocks noGrp="1"/>
          </p:cNvSpPr>
          <p:nvPr/>
        </p:nvSpPr>
        <p:spPr>
          <a:xfrm>
            <a:off x="666750" y="5381625"/>
            <a:ext cx="990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The analysis distinguishes broad category education from claims explicitly tied to the sponsored product. Visibility windows remain labeled as estimates when they are inferred from nearby matched frames.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19D516-4FB7-433F-B6AB-2EDA96E54CDD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1">
                <a:solidFill>
                  <a:srgbClr val="8C96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C96A5"/>
                </a:solidFill>
                <a:latin typeface="Aptos"/>
                <a:ea typeface="Aptos"/>
                <a:cs typeface="Aptos"/>
              </a:rPr>
              <a:t>CREATOR SPONSORSHIP ANALYZER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564CE5-4F02-4270-93A4-933CDFA526E5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8C96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C96A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38286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E8E34C4-0112-4023-9C4C-E9B9D2A9242F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6DF3"/>
                </a:solidFill>
                <a:latin typeface="Aptos"/>
                <a:ea typeface="Aptos"/>
                <a:cs typeface="Aptos"/>
              </a:rPr>
              <a:t>CREATIVE INTELLIGENCE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43FBEA-A0D6-4318-B296-C4C0B43643FA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Creative format becomes a measurable variable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F5C53F-01FB-4B23-813B-C8E2156AAFA0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9620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1667"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Oriane-derived events describe how the integration unfolds. Joining that structure to performance shows which formats work better.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3BC8D26-D95E-496C-BBD3-8C285F637F0F}"/>
              </a:ext>
            </a:extLst>
          </p:cNvPr>
          <p:cNvSpPr>
            <a:spLocks noGrp="1"/>
          </p:cNvSpPr>
          <p:nvPr/>
        </p:nvSpPr>
        <p:spPr>
          <a:xfrm>
            <a:off x="762000" y="2952750"/>
            <a:ext cx="1542344" cy="819150"/>
          </a:xfrm>
          <a:prstGeom prst="roundRect">
            <a:avLst>
              <a:gd name="adj" fmla="val 13953"/>
            </a:avLst>
          </a:prstGeom>
          <a:solidFill>
            <a:srgbClr val="0D2347"/>
          </a:solidFill>
          <a:ln w="0">
            <a:noFill/>
          </a:ln>
        </p:spPr>
        <p:txBody>
          <a:bodyPr lIns="57150" tIns="0" rIns="5715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E07398-0F95-40E8-8C94-8441DC3140F3}"/>
              </a:ext>
            </a:extLst>
          </p:cNvPr>
          <p:cNvSpPr>
            <a:spLocks noGrp="1"/>
          </p:cNvSpPr>
          <p:nvPr/>
        </p:nvSpPr>
        <p:spPr>
          <a:xfrm>
            <a:off x="762000" y="3886200"/>
            <a:ext cx="1542344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6978"/>
                </a:solidFill>
                <a:latin typeface="Aptos"/>
                <a:ea typeface="Aptos"/>
                <a:cs typeface="Aptos"/>
              </a:rPr>
              <a:t>0–8s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58072B2-F0F7-411F-9C12-D5FA491DEFBE}"/>
              </a:ext>
            </a:extLst>
          </p:cNvPr>
          <p:cNvSpPr>
            <a:spLocks noGrp="1"/>
          </p:cNvSpPr>
          <p:nvPr/>
        </p:nvSpPr>
        <p:spPr>
          <a:xfrm>
            <a:off x="2342444" y="2952750"/>
            <a:ext cx="1937456" cy="819150"/>
          </a:xfrm>
          <a:prstGeom prst="roundRect">
            <a:avLst>
              <a:gd name="adj" fmla="val 13953"/>
            </a:avLst>
          </a:prstGeom>
          <a:solidFill>
            <a:srgbClr val="356DF3"/>
          </a:solidFill>
          <a:ln w="0">
            <a:noFill/>
          </a:ln>
        </p:spPr>
        <p:txBody>
          <a:bodyPr lIns="57150" tIns="0" rIns="5715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C732C8-EAED-442D-8BB7-F391653B68C6}"/>
              </a:ext>
            </a:extLst>
          </p:cNvPr>
          <p:cNvSpPr>
            <a:spLocks noGrp="1"/>
          </p:cNvSpPr>
          <p:nvPr/>
        </p:nvSpPr>
        <p:spPr>
          <a:xfrm>
            <a:off x="2342444" y="3886200"/>
            <a:ext cx="193745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6978"/>
                </a:solidFill>
                <a:latin typeface="Aptos"/>
                <a:ea typeface="Aptos"/>
                <a:cs typeface="Aptos"/>
              </a:rPr>
              <a:t>8–18s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888F50-9BB4-4938-93CE-DA59D9EF0093}"/>
              </a:ext>
            </a:extLst>
          </p:cNvPr>
          <p:cNvSpPr>
            <a:spLocks noGrp="1"/>
          </p:cNvSpPr>
          <p:nvPr/>
        </p:nvSpPr>
        <p:spPr>
          <a:xfrm>
            <a:off x="4318000" y="2952750"/>
            <a:ext cx="1147233" cy="819150"/>
          </a:xfrm>
          <a:prstGeom prst="roundRect">
            <a:avLst>
              <a:gd name="adj" fmla="val 13953"/>
            </a:avLst>
          </a:prstGeom>
          <a:solidFill>
            <a:srgbClr val="FF886B"/>
          </a:solidFill>
          <a:ln w="0">
            <a:noFill/>
          </a:ln>
        </p:spPr>
        <p:txBody>
          <a:bodyPr lIns="57150" tIns="0" rIns="571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BRAND INTRO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E248E7-C871-4580-8BBC-0A96241C81C1}"/>
              </a:ext>
            </a:extLst>
          </p:cNvPr>
          <p:cNvSpPr>
            <a:spLocks noGrp="1"/>
          </p:cNvSpPr>
          <p:nvPr/>
        </p:nvSpPr>
        <p:spPr>
          <a:xfrm>
            <a:off x="4318000" y="3886200"/>
            <a:ext cx="1147233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6978"/>
                </a:solidFill>
                <a:latin typeface="Aptos"/>
                <a:ea typeface="Aptos"/>
                <a:cs typeface="Aptos"/>
              </a:rPr>
              <a:t>18–24s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863A412-5CEB-468F-9814-5826BC34FEAE}"/>
              </a:ext>
            </a:extLst>
          </p:cNvPr>
          <p:cNvSpPr>
            <a:spLocks noGrp="1"/>
          </p:cNvSpPr>
          <p:nvPr/>
        </p:nvSpPr>
        <p:spPr>
          <a:xfrm>
            <a:off x="5503333" y="2952750"/>
            <a:ext cx="3715456" cy="819150"/>
          </a:xfrm>
          <a:prstGeom prst="roundRect">
            <a:avLst>
              <a:gd name="adj" fmla="val 13953"/>
            </a:avLst>
          </a:prstGeom>
          <a:solidFill>
            <a:srgbClr val="2BB48A"/>
          </a:solidFill>
          <a:ln w="0">
            <a:noFill/>
          </a:ln>
        </p:spPr>
        <p:txBody>
          <a:bodyPr lIns="57150" tIns="0" rIns="5715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29CCC9-39E1-4999-956F-EC04E35D96DA}"/>
              </a:ext>
            </a:extLst>
          </p:cNvPr>
          <p:cNvSpPr>
            <a:spLocks noGrp="1"/>
          </p:cNvSpPr>
          <p:nvPr/>
        </p:nvSpPr>
        <p:spPr>
          <a:xfrm>
            <a:off x="5503333" y="3886200"/>
            <a:ext cx="3715456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6978"/>
                </a:solidFill>
                <a:latin typeface="Aptos"/>
                <a:ea typeface="Aptos"/>
                <a:cs typeface="Aptos"/>
              </a:rPr>
              <a:t>24–43s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C24B7BF-1E8E-4A0C-8048-F3FF209D32FE}"/>
              </a:ext>
            </a:extLst>
          </p:cNvPr>
          <p:cNvSpPr>
            <a:spLocks noGrp="1"/>
          </p:cNvSpPr>
          <p:nvPr/>
        </p:nvSpPr>
        <p:spPr>
          <a:xfrm>
            <a:off x="9256889" y="2952750"/>
            <a:ext cx="2135011" cy="819150"/>
          </a:xfrm>
          <a:prstGeom prst="roundRect">
            <a:avLst>
              <a:gd name="adj" fmla="val 13953"/>
            </a:avLst>
          </a:prstGeom>
          <a:solidFill>
            <a:srgbClr val="E7A53B"/>
          </a:solidFill>
          <a:ln w="0">
            <a:noFill/>
          </a:ln>
        </p:spPr>
        <p:txBody>
          <a:bodyPr lIns="57150" tIns="0" rIns="57150" bIns="0" anchor="ctr">
            <a:norm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CTA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D5F5EB-DBA1-4D71-B9AF-132B6B2FBEF3}"/>
              </a:ext>
            </a:extLst>
          </p:cNvPr>
          <p:cNvSpPr>
            <a:spLocks noGrp="1"/>
          </p:cNvSpPr>
          <p:nvPr/>
        </p:nvSpPr>
        <p:spPr>
          <a:xfrm>
            <a:off x="9256889" y="3886200"/>
            <a:ext cx="2135011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F6978"/>
                </a:solidFill>
                <a:latin typeface="Aptos"/>
                <a:ea typeface="Aptos"/>
                <a:cs typeface="Aptos"/>
              </a:rPr>
              <a:t>43–54s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E9C981D6-D039-4784-8D3C-A898D963C1D3}"/>
              </a:ext>
            </a:extLst>
          </p:cNvPr>
          <p:cNvSpPr>
            <a:spLocks noGrp="1"/>
          </p:cNvSpPr>
          <p:nvPr/>
        </p:nvSpPr>
        <p:spPr>
          <a:xfrm>
            <a:off x="1354667" y="2571750"/>
            <a:ext cx="0" cy="266700"/>
          </a:xfrm>
          <a:prstGeom prst="line">
            <a:avLst/>
          </a:prstGeom>
          <a:noFill/>
          <a:ln w="28575">
            <a:solidFill>
              <a:srgbClr val="FF8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F66B5E-0172-4C7A-90CC-E4C8461E6378}"/>
              </a:ext>
            </a:extLst>
          </p:cNvPr>
          <p:cNvSpPr>
            <a:spLocks noGrp="1"/>
          </p:cNvSpPr>
          <p:nvPr/>
        </p:nvSpPr>
        <p:spPr>
          <a:xfrm>
            <a:off x="1126067" y="226695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03s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C7DA4456-710C-4D5C-BF62-9CC687873745}"/>
              </a:ext>
            </a:extLst>
          </p:cNvPr>
          <p:cNvSpPr>
            <a:spLocks noGrp="1"/>
          </p:cNvSpPr>
          <p:nvPr/>
        </p:nvSpPr>
        <p:spPr>
          <a:xfrm>
            <a:off x="2144889" y="2571750"/>
            <a:ext cx="0" cy="266700"/>
          </a:xfrm>
          <a:prstGeom prst="line">
            <a:avLst/>
          </a:prstGeom>
          <a:noFill/>
          <a:ln w="28575">
            <a:solidFill>
              <a:srgbClr val="FF8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49E55C-699B-4F4F-99AD-C5ECF8AE83A9}"/>
              </a:ext>
            </a:extLst>
          </p:cNvPr>
          <p:cNvSpPr>
            <a:spLocks noGrp="1"/>
          </p:cNvSpPr>
          <p:nvPr/>
        </p:nvSpPr>
        <p:spPr>
          <a:xfrm>
            <a:off x="1916289" y="226695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07s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91BB1FA-47A9-4CD7-B8CE-BCC1E363FEA2}"/>
              </a:ext>
            </a:extLst>
          </p:cNvPr>
          <p:cNvSpPr>
            <a:spLocks noGrp="1"/>
          </p:cNvSpPr>
          <p:nvPr/>
        </p:nvSpPr>
        <p:spPr>
          <a:xfrm>
            <a:off x="2935111" y="2571750"/>
            <a:ext cx="0" cy="266700"/>
          </a:xfrm>
          <a:prstGeom prst="line">
            <a:avLst/>
          </a:prstGeom>
          <a:noFill/>
          <a:ln w="28575">
            <a:solidFill>
              <a:srgbClr val="FF8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1C5D38-4E2A-4DD8-87F5-FAB58AA5A1F7}"/>
              </a:ext>
            </a:extLst>
          </p:cNvPr>
          <p:cNvSpPr>
            <a:spLocks noGrp="1"/>
          </p:cNvSpPr>
          <p:nvPr/>
        </p:nvSpPr>
        <p:spPr>
          <a:xfrm>
            <a:off x="2706511" y="226695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11s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843D1DDE-8762-455E-A5A3-CD2552FC64F2}"/>
              </a:ext>
            </a:extLst>
          </p:cNvPr>
          <p:cNvSpPr>
            <a:spLocks noGrp="1"/>
          </p:cNvSpPr>
          <p:nvPr/>
        </p:nvSpPr>
        <p:spPr>
          <a:xfrm>
            <a:off x="4120444" y="2571750"/>
            <a:ext cx="0" cy="266700"/>
          </a:xfrm>
          <a:prstGeom prst="line">
            <a:avLst/>
          </a:prstGeom>
          <a:noFill/>
          <a:ln w="28575">
            <a:solidFill>
              <a:srgbClr val="FF8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0D806C-1151-4C00-A5B6-C5BD15F50C01}"/>
              </a:ext>
            </a:extLst>
          </p:cNvPr>
          <p:cNvSpPr>
            <a:spLocks noGrp="1"/>
          </p:cNvSpPr>
          <p:nvPr/>
        </p:nvSpPr>
        <p:spPr>
          <a:xfrm>
            <a:off x="3891844" y="226695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17s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14044E5D-698B-437E-B42F-14E835C1E981}"/>
              </a:ext>
            </a:extLst>
          </p:cNvPr>
          <p:cNvSpPr>
            <a:spLocks noGrp="1"/>
          </p:cNvSpPr>
          <p:nvPr/>
        </p:nvSpPr>
        <p:spPr>
          <a:xfrm>
            <a:off x="6886222" y="2571750"/>
            <a:ext cx="0" cy="266700"/>
          </a:xfrm>
          <a:prstGeom prst="line">
            <a:avLst/>
          </a:prstGeom>
          <a:noFill/>
          <a:ln w="28575">
            <a:solidFill>
              <a:srgbClr val="FF8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4A7433-6966-4990-A030-F036022DE899}"/>
              </a:ext>
            </a:extLst>
          </p:cNvPr>
          <p:cNvSpPr>
            <a:spLocks noGrp="1"/>
          </p:cNvSpPr>
          <p:nvPr/>
        </p:nvSpPr>
        <p:spPr>
          <a:xfrm>
            <a:off x="6657622" y="226695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31s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2F0A920C-217C-475D-ABF5-4DE3D834F438}"/>
              </a:ext>
            </a:extLst>
          </p:cNvPr>
          <p:cNvSpPr>
            <a:spLocks noGrp="1"/>
          </p:cNvSpPr>
          <p:nvPr/>
        </p:nvSpPr>
        <p:spPr>
          <a:xfrm>
            <a:off x="9256889" y="2571750"/>
            <a:ext cx="0" cy="266700"/>
          </a:xfrm>
          <a:prstGeom prst="line">
            <a:avLst/>
          </a:prstGeom>
          <a:noFill/>
          <a:ln w="28575">
            <a:solidFill>
              <a:srgbClr val="E7A53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3465A8-31D3-4FF5-8AA2-4D408DD96D8B}"/>
              </a:ext>
            </a:extLst>
          </p:cNvPr>
          <p:cNvSpPr>
            <a:spLocks noGrp="1"/>
          </p:cNvSpPr>
          <p:nvPr/>
        </p:nvSpPr>
        <p:spPr>
          <a:xfrm>
            <a:off x="9028289" y="2266950"/>
            <a:ext cx="4572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0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43s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114467-E988-4E67-AD13-686B3F952033}"/>
              </a:ext>
            </a:extLst>
          </p:cNvPr>
          <p:cNvSpPr>
            <a:spLocks noGrp="1"/>
          </p:cNvSpPr>
          <p:nvPr/>
        </p:nvSpPr>
        <p:spPr>
          <a:xfrm>
            <a:off x="1333500" y="5000625"/>
            <a:ext cx="9525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Did a before-and-after demonstration outperform an informative product explanation on watch time, clicks, or conversion?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698003-4D24-49A5-B37E-FCBA18C94910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1">
                <a:solidFill>
                  <a:srgbClr val="8C96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C96A5"/>
                </a:solidFill>
                <a:latin typeface="Aptos"/>
                <a:ea typeface="Aptos"/>
                <a:cs typeface="Aptos"/>
              </a:rPr>
              <a:t>CREATOR SPONSORSHIP ANALYZER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FF18422-B743-42A2-BD57-CCCEA172F55A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8C96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C96A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6340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33245BD-1FB1-4B35-A08F-C2E635F84660}"/>
              </a:ext>
            </a:extLst>
          </p:cNvPr>
          <p:cNvSpPr>
            <a:spLocks noGrp="1"/>
          </p:cNvSpPr>
          <p:nvPr/>
        </p:nvSpPr>
        <p:spPr>
          <a:xfrm>
            <a:off x="666750" y="428625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6DF3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6DDAB3-BFDB-4195-A8FD-B6063EA94828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92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Oriane sees the video. Our analysis explains it.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7F0B7C-31B4-4E11-B8F5-CDFE3EBF19A9}"/>
              </a:ext>
            </a:extLst>
          </p:cNvPr>
          <p:cNvSpPr>
            <a:spLocks noGrp="1"/>
          </p:cNvSpPr>
          <p:nvPr/>
        </p:nvSpPr>
        <p:spPr>
          <a:xfrm>
            <a:off x="666750" y="1409700"/>
            <a:ext cx="8382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The final metrics remain grounded in Oriane timestamps, transcript, and visual evidence.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F64334A-6D3C-4F21-BBD2-8E0C79AAB9A4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1809750" cy="1428750"/>
          </a:xfrm>
          <a:prstGeom prst="roundRect">
            <a:avLst>
              <a:gd name="adj" fmla="val 10667"/>
            </a:avLst>
          </a:prstGeom>
          <a:solidFill>
            <a:srgbClr val="E9F0FF"/>
          </a:solidFill>
          <a:ln w="9525">
            <a:solidFill>
              <a:srgbClr val="C5D2E7"/>
            </a:solidFill>
            <a:prstDash val="solid"/>
          </a:ln>
        </p:spPr>
        <p:txBody>
          <a:bodyPr lIns="152400" tIns="95250" rIns="152400" bIns="95250" anchor="ctr"/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SELECTED</a:t>
            </a:r>
          </a:p>
          <a:p>
            <a:pPr algn="ctr">
              <a:lnSpc>
                <a:spcPct val="105000"/>
              </a:lnSpc>
              <a:buNone/>
              <a:defRPr sz="1725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VIDEO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A918D21-7739-419F-AFEA-C71C2857738D}"/>
              </a:ext>
            </a:extLst>
          </p:cNvPr>
          <p:cNvSpPr>
            <a:spLocks noGrp="1"/>
          </p:cNvSpPr>
          <p:nvPr/>
        </p:nvSpPr>
        <p:spPr>
          <a:xfrm>
            <a:off x="3190875" y="2381250"/>
            <a:ext cx="2286000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356DF3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15800A-85DF-426B-9783-70510B88FD3D}"/>
              </a:ext>
            </a:extLst>
          </p:cNvPr>
          <p:cNvSpPr>
            <a:spLocks noGrp="1"/>
          </p:cNvSpPr>
          <p:nvPr/>
        </p:nvSpPr>
        <p:spPr>
          <a:xfrm>
            <a:off x="3476625" y="26670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6DF3"/>
                </a:solidFill>
                <a:latin typeface="Aptos"/>
                <a:ea typeface="Aptos"/>
                <a:cs typeface="Aptos"/>
              </a:rPr>
              <a:t>ORIANE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7A2722-4F76-4FE8-BB15-D810BF31EBC7}"/>
              </a:ext>
            </a:extLst>
          </p:cNvPr>
          <p:cNvSpPr>
            <a:spLocks noGrp="1"/>
          </p:cNvSpPr>
          <p:nvPr/>
        </p:nvSpPr>
        <p:spPr>
          <a:xfrm>
            <a:off x="3476625" y="31432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86211"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Raw video evidence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12FCFD-C9C9-4D22-B767-A2995C02CAD1}"/>
              </a:ext>
            </a:extLst>
          </p:cNvPr>
          <p:cNvSpPr>
            <a:spLocks noGrp="1"/>
          </p:cNvSpPr>
          <p:nvPr/>
        </p:nvSpPr>
        <p:spPr>
          <a:xfrm>
            <a:off x="3476625" y="3619500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timestamps · transcript</a:t>
            </a:r>
          </a:p>
          <a:p>
            <a:pPr algn="ctr">
              <a:lnSpc>
                <a:spcPct val="100000"/>
              </a:lnSpc>
              <a:buNone/>
              <a:defRPr sz="1125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visual matches · OCR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3CC126C-1389-41F0-9A2E-DFC7494F8C45}"/>
              </a:ext>
            </a:extLst>
          </p:cNvPr>
          <p:cNvSpPr>
            <a:spLocks noGrp="1"/>
          </p:cNvSpPr>
          <p:nvPr/>
        </p:nvSpPr>
        <p:spPr>
          <a:xfrm>
            <a:off x="6191250" y="2381250"/>
            <a:ext cx="2286000" cy="1809750"/>
          </a:xfrm>
          <a:prstGeom prst="roundRect">
            <a:avLst>
              <a:gd name="adj" fmla="val 8421"/>
            </a:avLst>
          </a:prstGeom>
          <a:solidFill>
            <a:srgbClr val="FFF0E9"/>
          </a:solidFill>
          <a:ln w="19050">
            <a:solidFill>
              <a:srgbClr val="FF886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A63D51-752A-4B81-AE2D-A94ADD05E960}"/>
              </a:ext>
            </a:extLst>
          </p:cNvPr>
          <p:cNvSpPr>
            <a:spLocks noGrp="1"/>
          </p:cNvSpPr>
          <p:nvPr/>
        </p:nvSpPr>
        <p:spPr>
          <a:xfrm>
            <a:off x="6477000" y="266700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050" b="1">
                <a:solidFill>
                  <a:srgbClr val="FF88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886B"/>
                </a:solidFill>
                <a:latin typeface="Aptos"/>
                <a:ea typeface="Aptos"/>
                <a:cs typeface="Aptos"/>
              </a:rPr>
              <a:t>ANALYSIS LAYER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379D3B-5EAC-4C12-99F0-71CB07BBA3DB}"/>
              </a:ext>
            </a:extLst>
          </p:cNvPr>
          <p:cNvSpPr>
            <a:spLocks noGrp="1"/>
          </p:cNvSpPr>
          <p:nvPr/>
        </p:nvSpPr>
        <p:spPr>
          <a:xfrm>
            <a:off x="6477000" y="3143250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2411"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Metrics + meaning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63F01-D5C3-4D21-A64E-CC18757C4697}"/>
              </a:ext>
            </a:extLst>
          </p:cNvPr>
          <p:cNvSpPr>
            <a:spLocks noGrp="1"/>
          </p:cNvSpPr>
          <p:nvPr/>
        </p:nvSpPr>
        <p:spPr>
          <a:xfrm>
            <a:off x="6477000" y="3619500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durations · CTA · demo</a:t>
            </a:r>
          </a:p>
          <a:p>
            <a:pPr algn="ctr">
              <a:lnSpc>
                <a:spcPct val="100000"/>
              </a:lnSpc>
              <a:buNone/>
              <a:defRPr sz="1125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creative structure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EC323F7-4088-4F89-8D36-BF1B6577290A}"/>
              </a:ext>
            </a:extLst>
          </p:cNvPr>
          <p:cNvSpPr>
            <a:spLocks noGrp="1"/>
          </p:cNvSpPr>
          <p:nvPr/>
        </p:nvSpPr>
        <p:spPr>
          <a:xfrm>
            <a:off x="9191625" y="2381250"/>
            <a:ext cx="2333625" cy="1809750"/>
          </a:xfrm>
          <a:prstGeom prst="roundRect">
            <a:avLst>
              <a:gd name="adj" fmla="val 8421"/>
            </a:avLst>
          </a:prstGeom>
          <a:solidFill>
            <a:srgbClr val="E4F5EF"/>
          </a:solidFill>
          <a:ln w="9525">
            <a:solidFill>
              <a:srgbClr val="2BB48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81E313-0462-4C37-973C-2EC1D4ADEE81}"/>
              </a:ext>
            </a:extLst>
          </p:cNvPr>
          <p:cNvSpPr>
            <a:spLocks noGrp="1"/>
          </p:cNvSpPr>
          <p:nvPr/>
        </p:nvSpPr>
        <p:spPr>
          <a:xfrm>
            <a:off x="9477375" y="2667000"/>
            <a:ext cx="17621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975" b="1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6DF3"/>
                </a:solidFill>
                <a:latin typeface="Aptos"/>
                <a:ea typeface="Aptos"/>
                <a:cs typeface="Aptos"/>
              </a:rPr>
              <a:t>PRODUCT OUTPUT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EE2905-C69B-4895-979C-599FA19932CE}"/>
              </a:ext>
            </a:extLst>
          </p:cNvPr>
          <p:cNvSpPr>
            <a:spLocks noGrp="1"/>
          </p:cNvSpPr>
          <p:nvPr/>
        </p:nvSpPr>
        <p:spPr>
          <a:xfrm>
            <a:off x="9477375" y="3143250"/>
            <a:ext cx="17621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6552"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0715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52C"/>
                </a:solidFill>
                <a:latin typeface="Aptos"/>
                <a:ea typeface="Aptos"/>
                <a:cs typeface="Aptos"/>
              </a:rPr>
              <a:t>Evidence + insight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347EB2-BA97-4E3F-8A40-A767B0365AC4}"/>
              </a:ext>
            </a:extLst>
          </p:cNvPr>
          <p:cNvSpPr>
            <a:spLocks noGrp="1"/>
          </p:cNvSpPr>
          <p:nvPr/>
        </p:nvSpPr>
        <p:spPr>
          <a:xfrm>
            <a:off x="9477375" y="3619500"/>
            <a:ext cx="17621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delivery checks</a:t>
            </a:r>
          </a:p>
          <a:p>
            <a:pPr algn="ctr">
              <a:lnSpc>
                <a:spcPct val="100000"/>
              </a:lnSpc>
              <a:buNone/>
              <a:defRPr sz="1125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and creative learnings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E5D3EFCC-7B6A-479F-BF77-7398B0C32251}"/>
              </a:ext>
            </a:extLst>
          </p:cNvPr>
          <p:cNvSpPr>
            <a:spLocks noGrp="1"/>
          </p:cNvSpPr>
          <p:nvPr/>
        </p:nvSpPr>
        <p:spPr>
          <a:xfrm>
            <a:off x="2609850" y="3219450"/>
            <a:ext cx="428625" cy="114300"/>
          </a:xfrm>
          <a:prstGeom prst="rightArrow">
            <a:avLst/>
          </a:prstGeom>
          <a:solidFill>
            <a:srgbClr val="FF886B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FE878C56-B920-462A-BA3C-41855395E906}"/>
              </a:ext>
            </a:extLst>
          </p:cNvPr>
          <p:cNvSpPr>
            <a:spLocks noGrp="1"/>
          </p:cNvSpPr>
          <p:nvPr/>
        </p:nvSpPr>
        <p:spPr>
          <a:xfrm>
            <a:off x="5610225" y="3219450"/>
            <a:ext cx="428625" cy="114300"/>
          </a:xfrm>
          <a:prstGeom prst="rightArrow">
            <a:avLst/>
          </a:prstGeom>
          <a:solidFill>
            <a:srgbClr val="FF886B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44BCFB4D-2F78-43CE-9D77-4CC90800BCA4}"/>
              </a:ext>
            </a:extLst>
          </p:cNvPr>
          <p:cNvSpPr>
            <a:spLocks noGrp="1"/>
          </p:cNvSpPr>
          <p:nvPr/>
        </p:nvSpPr>
        <p:spPr>
          <a:xfrm>
            <a:off x="8610600" y="3219450"/>
            <a:ext cx="428625" cy="114300"/>
          </a:xfrm>
          <a:prstGeom prst="rightArrow">
            <a:avLst/>
          </a:prstGeom>
          <a:solidFill>
            <a:srgbClr val="FF886B"/>
          </a:solidFill>
          <a:ln w="0">
            <a:noFill/>
          </a:ln>
        </p:spPr>
        <p:txBody>
          <a:bodyPr/>
          <a:lstStyle/>
          <a:p>
            <a:endParaRPr lang="en-AE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27E7647-0C86-4845-9F94-273F7EB1CAEB}"/>
              </a:ext>
            </a:extLst>
          </p:cNvPr>
          <p:cNvSpPr>
            <a:spLocks noGrp="1"/>
          </p:cNvSpPr>
          <p:nvPr/>
        </p:nvSpPr>
        <p:spPr>
          <a:xfrm>
            <a:off x="3714750" y="4953000"/>
            <a:ext cx="4762500" cy="323850"/>
          </a:xfrm>
          <a:prstGeom prst="roundRect">
            <a:avLst>
              <a:gd name="adj" fmla="val 50000"/>
            </a:avLst>
          </a:prstGeom>
          <a:solidFill>
            <a:srgbClr val="E9F0FF"/>
          </a:solidFill>
          <a:ln w="0">
            <a:noFill/>
          </a:ln>
        </p:spPr>
        <p:txBody>
          <a:bodyPr lIns="76200" tIns="0" rIns="76200" bIns="0" anchor="ctr">
            <a:normAutofit/>
          </a:bodyPr>
          <a:lstStyle/>
          <a:p>
            <a:pPr algn="ctr">
              <a:defRPr sz="1050" b="1">
                <a:solidFill>
                  <a:srgbClr val="356DF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6DF3"/>
                </a:solidFill>
                <a:latin typeface="Aptos"/>
                <a:ea typeface="Aptos"/>
                <a:cs typeface="Aptos"/>
              </a:rPr>
              <a:t>EVERY INFERENCE LINKS BACK TO EVIDENCE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AFB325-A028-4F06-AAFC-E08FF8FA4157}"/>
              </a:ext>
            </a:extLst>
          </p:cNvPr>
          <p:cNvSpPr>
            <a:spLocks noGrp="1"/>
          </p:cNvSpPr>
          <p:nvPr/>
        </p:nvSpPr>
        <p:spPr>
          <a:xfrm>
            <a:off x="3714750" y="5476875"/>
            <a:ext cx="5905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5F697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978"/>
                </a:solidFill>
                <a:latin typeface="Aptos"/>
                <a:ea typeface="Aptos"/>
                <a:cs typeface="Aptos"/>
              </a:rPr>
              <a:t>Unknown or low-confidence results are sent to human review.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7E4D9F-31EE-4E40-93FF-D1A04E14C92E}"/>
              </a:ext>
            </a:extLst>
          </p:cNvPr>
          <p:cNvSpPr>
            <a:spLocks noGrp="1"/>
          </p:cNvSpPr>
          <p:nvPr/>
        </p:nvSpPr>
        <p:spPr>
          <a:xfrm>
            <a:off x="666750" y="6477000"/>
            <a:ext cx="342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1">
                <a:solidFill>
                  <a:srgbClr val="8C96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C96A5"/>
                </a:solidFill>
                <a:latin typeface="Aptos"/>
                <a:ea typeface="Aptos"/>
                <a:cs typeface="Aptos"/>
              </a:rPr>
              <a:t>CREATOR SPONSORSHIP ANALYZER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CDB213-C8A3-4B2C-BF6C-D2ECA5CBD573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825" b="1">
                <a:solidFill>
                  <a:srgbClr val="8C96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C96A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158453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</Words>
  <Application>Microsoft Macintosh PowerPoint</Application>
  <DocSecurity>0</DocSecurity>
  <PresentationFormat>Widescreen</PresentationFormat>
  <Paragraphs>122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20230003471 Mahnoor Aslam</cp:lastModifiedBy>
  <cp:revision>1</cp:revision>
  <dcterms:created xsi:type="dcterms:W3CDTF">2026-09-27T12:53:30Z</dcterms:created>
  <dcterms:modified xsi:type="dcterms:W3CDTF">2026-09-27T12:57:06Z</dcterms:modified>
</cp:coreProperties>
</file>